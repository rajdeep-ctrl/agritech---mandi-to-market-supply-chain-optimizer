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Raw</c:v>
                </c:pt>
              </c:strCache>
            </c:strRef>
          </c:tx>
          <c:spPr>
            <a:solidFill>
              <a:srgbClr val="3A312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2EAE1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Arrivals</c:v>
                  </c:pt>
                  <c:pt idx="1">
                    <c:v>Price/MSP</c:v>
                  </c:pt>
                  <c:pt idx="2">
                    <c:v>Transport</c:v>
                  </c:pt>
                  <c:pt idx="3">
                    <c:v>Weather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25750</c:v>
                </c:pt>
                <c:pt idx="1">
                  <c:v>12000</c:v>
                </c:pt>
                <c:pt idx="2">
                  <c:v>10400</c:v>
                </c:pt>
                <c:pt idx="3">
                  <c:v>15000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Clean</c:v>
                </c:pt>
              </c:strCache>
            </c:strRef>
          </c:tx>
          <c:spPr>
            <a:solidFill>
              <a:srgbClr val="E8A3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2EAE1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Arrivals</c:v>
                  </c:pt>
                  <c:pt idx="1">
                    <c:v>Price/MSP</c:v>
                  </c:pt>
                  <c:pt idx="2">
                    <c:v>Transport</c:v>
                  </c:pt>
                  <c:pt idx="3">
                    <c:v>Weather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24489</c:v>
                </c:pt>
                <c:pt idx="1">
                  <c:v>10213</c:v>
                </c:pt>
                <c:pt idx="2">
                  <c:v>10400</c:v>
                </c:pt>
                <c:pt idx="3">
                  <c:v>13445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2EAE1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B8AA9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3A312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B8AA9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241E1A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B8AA9C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A1512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Wheat arrivals (Qtl)</c:v>
                </c:pt>
              </c:strCache>
            </c:strRef>
          </c:tx>
          <c:spPr>
            <a:solidFill>
              <a:srgbClr val="E8A33D"/>
            </a:solidFill>
            <a:ln w="25400" cap="flat">
              <a:solidFill>
                <a:srgbClr val="E8A33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E8A33D"/>
              </a:solidFill>
              <a:ln w="9525" cap="flat">
                <a:solidFill>
                  <a:srgbClr val="E8A33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W1</c:v>
                  </c:pt>
                  <c:pt idx="1">
                    <c:v>W2</c:v>
                  </c:pt>
                  <c:pt idx="2">
                    <c:v>W3</c:v>
                  </c:pt>
                  <c:pt idx="3">
                    <c:v>W4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4200</c:v>
                </c:pt>
                <c:pt idx="1">
                  <c:v>4650</c:v>
                </c:pt>
                <c:pt idx="2">
                  <c:v>4100</c:v>
                </c:pt>
                <c:pt idx="3">
                  <c:v>5300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B8AA9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3A312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B8AA9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241E1A"/>
        </a:solidFill>
        <a:ln>
          <a:noFill/>
        </a:ln>
        <a:effectLst/>
      </c:spPr>
    </c:plotArea>
    <c:plotVisOnly val="1"/>
    <c:dispBlanksAs val="span"/>
  </c:chart>
  <c:spPr>
    <a:solidFill>
      <a:srgbClr val="241E1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5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41E1A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097280"/>
            <a:ext cx="4114800" cy="4114800"/>
          </a:xfrm>
          <a:prstGeom prst="ellipse">
            <a:avLst/>
          </a:prstGeom>
          <a:solidFill>
            <a:srgbClr val="2E262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965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E7C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TRANSORG AGENTIQ DATATHON  ·  TRACK 3 — AGRITECH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774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2EA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Mandi-to-Market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2004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Supply Chain Optimizer</a:t>
            </a:r>
            <a:endParaRPr lang="en-US" sz="4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2519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B8A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messy source files, one dashboard a State Agriculture Board can actually trust — plus an AI agent that answers questions in plain English.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5989320"/>
            <a:ext cx="457200" cy="54864"/>
          </a:xfrm>
          <a:prstGeom prst="rect">
            <a:avLst/>
          </a:prstGeom>
          <a:solidFill>
            <a:srgbClr val="B8AA9C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5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42976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E7C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676656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EA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board doesn't lack data. It lacks data it can trust.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F2E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State Agriculture Board pulls in mandi arrivals, prices, MSP, transport logs and weather readings from a dozen different sources — different offices, different vendors, different habits. Nobody agreed on a format.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20040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F2E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anyone can chart a price trend or catch a supply crunch, the same crop, the same mandi and the same unit of measure need to mean the same thing everywhere.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309360" y="1463040"/>
            <a:ext cx="5349240" cy="841248"/>
          </a:xfrm>
          <a:prstGeom prst="roundRect">
            <a:avLst>
              <a:gd name="adj" fmla="val 8696"/>
            </a:avLst>
          </a:prstGeom>
          <a:solidFill>
            <a:srgbClr val="241E1A"/>
          </a:solidFill>
          <a:ln w="12700">
            <a:solidFill>
              <a:srgbClr val="3A312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37960" y="153619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Mandi Master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1883664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8A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MANDI001 · mandi_007 · M003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09360" y="2414016"/>
            <a:ext cx="5349240" cy="841248"/>
          </a:xfrm>
          <a:prstGeom prst="roundRect">
            <a:avLst>
              <a:gd name="adj" fmla="val 8696"/>
            </a:avLst>
          </a:prstGeom>
          <a:solidFill>
            <a:srgbClr val="241E1A"/>
          </a:solidFill>
          <a:ln w="12700">
            <a:solidFill>
              <a:srgbClr val="3A312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37960" y="248716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Arrivals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28346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8A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gehun · Kanak · गेहूं · Wheat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09360" y="3364992"/>
            <a:ext cx="5349240" cy="841248"/>
          </a:xfrm>
          <a:prstGeom prst="roundRect">
            <a:avLst>
              <a:gd name="adj" fmla="val 8696"/>
            </a:avLst>
          </a:prstGeom>
          <a:solidFill>
            <a:srgbClr val="241E1A"/>
          </a:solidFill>
          <a:ln w="12700">
            <a:solidFill>
              <a:srgbClr val="3A312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37960" y="3438144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&amp; MSP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6537960" y="3785616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8A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₹2,150/- · Rs.2150 · INR 2150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09360" y="4315968"/>
            <a:ext cx="5349240" cy="841248"/>
          </a:xfrm>
          <a:prstGeom prst="roundRect">
            <a:avLst>
              <a:gd name="adj" fmla="val 8696"/>
            </a:avLst>
          </a:prstGeom>
          <a:solidFill>
            <a:srgbClr val="241E1A"/>
          </a:solidFill>
          <a:ln w="12700">
            <a:solidFill>
              <a:srgbClr val="3A312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37960" y="43891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Logs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6537960" y="473659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8A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18.2 miles · 29.3 km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09360" y="5266944"/>
            <a:ext cx="5349240" cy="841248"/>
          </a:xfrm>
          <a:prstGeom prst="roundRect">
            <a:avLst>
              <a:gd name="adj" fmla="val 8696"/>
            </a:avLst>
          </a:prstGeom>
          <a:solidFill>
            <a:srgbClr val="241E1A"/>
          </a:solidFill>
          <a:ln w="12700">
            <a:solidFill>
              <a:srgbClr val="3A312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37960" y="5340096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Sensors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6537960" y="568756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8A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85.3°F · 29.6°C · UTC / IST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B8A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MANDI-TO-MARKET  ·  TRACK 3 — AGRITECH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A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5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42976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E7C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676656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EA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pieces, one pipeline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3611880" cy="4206240"/>
          </a:xfrm>
          <a:prstGeom prst="roundRect">
            <a:avLst>
              <a:gd name="adj" fmla="val 2025"/>
            </a:avLst>
          </a:prstGeom>
          <a:solidFill>
            <a:srgbClr val="241E1A"/>
          </a:solidFill>
          <a:ln w="12700">
            <a:solidFill>
              <a:srgbClr val="3A312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2011680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5603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EA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Rescue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3063240"/>
            <a:ext cx="29718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B8A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cleaning pipeline that takes the five raw files and turns them into standardized CSVs — one canonical crop name, one mandi ID format, one unit of measure.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79976" y="1691640"/>
            <a:ext cx="3611880" cy="4206240"/>
          </a:xfrm>
          <a:prstGeom prst="roundRect">
            <a:avLst>
              <a:gd name="adj" fmla="val 2025"/>
            </a:avLst>
          </a:prstGeom>
          <a:solidFill>
            <a:srgbClr val="241E1A"/>
          </a:solidFill>
          <a:ln w="12700">
            <a:solidFill>
              <a:srgbClr val="3A312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0016" y="2011680"/>
            <a:ext cx="384048" cy="384048"/>
          </a:xfrm>
          <a:prstGeom prst="ellipse">
            <a:avLst/>
          </a:prstGeom>
          <a:solidFill>
            <a:srgbClr val="3E7C6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700016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700016" y="25603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EA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Dashboard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4700016" y="3063240"/>
            <a:ext cx="29718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B8A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Streamlit dashboard styled like a market ledger, not a generic SaaS template — KPIs, price-vs-MSP tracking, transit delays, arrivals by crop.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211312" y="1691640"/>
            <a:ext cx="3611880" cy="4206240"/>
          </a:xfrm>
          <a:prstGeom prst="roundRect">
            <a:avLst>
              <a:gd name="adj" fmla="val 2025"/>
            </a:avLst>
          </a:prstGeom>
          <a:solidFill>
            <a:srgbClr val="241E1A"/>
          </a:solidFill>
          <a:ln w="12700">
            <a:solidFill>
              <a:srgbClr val="3A312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31352" y="2011680"/>
            <a:ext cx="384048" cy="384048"/>
          </a:xfrm>
          <a:prstGeom prst="ellipse">
            <a:avLst/>
          </a:prstGeom>
          <a:solidFill>
            <a:srgbClr val="C1502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531352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531352" y="25603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EA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Graph-First AI Agent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8531352" y="3063240"/>
            <a:ext cx="29718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B8A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 question in plain English and get the right chart back — line, bar, scatter or histogram — with a one-line explanation, no LLM API required.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B8A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MANDI-TO-MARKET  ·  TRACK 3 — AGRITECH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A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5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42976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E7C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RESCUE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676656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EA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five dialects of messy to one clean schema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names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377440" y="160020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B8A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/ Hindi / Punjabi spellings, mixed case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5852160" y="16002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E7C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263640" y="16002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2E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canonical crops (Wheat, Maize, Mustard, Cotton, Rice, Sugarcane)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093976"/>
            <a:ext cx="9262872" cy="0"/>
          </a:xfrm>
          <a:prstGeom prst="line">
            <a:avLst/>
          </a:prstGeom>
          <a:noFill/>
          <a:ln w="9525">
            <a:solidFill>
              <a:srgbClr val="3A312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216712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Mandi IDs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377440" y="2167128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B8A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MANDI001, MANDI-001, mandi_001, M001, bare "003"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5852160" y="216712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E7C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263640" y="216712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2E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format: MANDI001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2660904"/>
            <a:ext cx="9262872" cy="0"/>
          </a:xfrm>
          <a:prstGeom prst="line">
            <a:avLst/>
          </a:prstGeom>
          <a:noFill/>
          <a:ln w="9525">
            <a:solidFill>
              <a:srgbClr val="3A312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273405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Quantities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2377440" y="2734056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B8A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Tonnes / Quintals / KG, unit sometimes embedded in the value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5852160" y="273405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E7C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263640" y="2734056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2E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Quintals, everywhere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227832"/>
            <a:ext cx="9262872" cy="0"/>
          </a:xfrm>
          <a:prstGeom prst="line">
            <a:avLst/>
          </a:prstGeom>
          <a:noFill/>
          <a:ln w="9525">
            <a:solidFill>
              <a:srgbClr val="3A312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3300984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2377440" y="3300984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B8A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₹, Rs., INR, commas, trailing "/-"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5852160" y="3300984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E7C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263640" y="3300984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2E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floats, ₹/Quintal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3794760"/>
            <a:ext cx="9262872" cy="0"/>
          </a:xfrm>
          <a:prstGeom prst="line">
            <a:avLst/>
          </a:prstGeom>
          <a:noFill/>
          <a:ln w="9525">
            <a:solidFill>
              <a:srgbClr val="3A312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8640" y="386791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Distances &amp; weather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2377440" y="3867912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B8A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 vs km, °F vs °C, UTC vs IST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5852160" y="386791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E7C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6263640" y="386791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2E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km, °C, IST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48640" y="4361688"/>
            <a:ext cx="9262872" cy="0"/>
          </a:xfrm>
          <a:prstGeom prst="line">
            <a:avLst/>
          </a:prstGeom>
          <a:noFill/>
          <a:ln w="9525">
            <a:solidFill>
              <a:srgbClr val="3A312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418320" y="1600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E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rescued, by file</a:t>
            </a:r>
            <a:endParaRPr lang="en-US" sz="1200" dirty="0"/>
          </a:p>
        </p:txBody>
      </p:sp>
      <p:graphicFrame>
        <p:nvGraphicFramePr>
          <p:cNvPr id="32" name="Chart 0" descr=""/>
          <p:cNvGraphicFramePr/>
          <p:nvPr/>
        </p:nvGraphicFramePr>
        <p:xfrm>
          <a:off x="9281160" y="2011680"/>
          <a:ext cx="237744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3" name="Text 30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B8A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MANDI-TO-MARKET  ·  TRACK 3 — AGRITECH</a:t>
            </a:r>
            <a:endParaRPr lang="en-US" sz="900" dirty="0"/>
          </a:p>
        </p:txBody>
      </p:sp>
      <p:sp>
        <p:nvSpPr>
          <p:cNvPr id="34" name="Text 31"/>
          <p:cNvSpPr txBox="1"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A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5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42976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E7C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SECOND LOOK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676656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EA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bugs a “it ran fine” pass would have missed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23444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8A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output against the raw files directly — not just confirming the script ran — surfaced four real defects. All four are fixed in the current pipeline.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241E1A"/>
          </a:solidFill>
          <a:ln w="12700">
            <a:solidFill>
              <a:srgbClr val="3A312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1993392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+2,600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51460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2E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ARRIVAL ROWS RECOVERED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816352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8A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Comma-formatted quantities like “36,654.0 KG” failed the numeric regex and were silently dropped as unparseable — fixed by stripping thousands separators first.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016752" y="182880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241E1A"/>
          </a:solidFill>
          <a:ln w="12700">
            <a:solidFill>
              <a:srgbClr val="3A312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91072" y="1993392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E7C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~2,343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6291072" y="251460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2E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DATES HAD DAY/MONTH SWAPPED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6291072" y="2816352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8A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Dash-separated dates mixed DD/MM/YYYY and MM-DD-YYYY under one blind dayfirst guess. Replaced with an explicit, ordered list of formats.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397764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241E1A"/>
          </a:solidFill>
          <a:ln w="12700">
            <a:solidFill>
              <a:srgbClr val="3A312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4142232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15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308 → 13.5 hrs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466344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2E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TRANSIT TIME, CORRECTED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965192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8A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dayfirst fallback mis-parsed unambiguous ISO timestamps (2026-01-12 read as Dec 1), inflating average transit time to a nonsensical ~308 hours.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016752" y="397764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241E1A"/>
          </a:solidFill>
          <a:ln w="12700">
            <a:solidFill>
              <a:srgbClr val="3A312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91072" y="4142232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2,042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6291072" y="466344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2E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MISLABELED BY A PANDAS QUIRK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291072" y="4965192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8A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modal_price &lt; msp silently evaluates False when msp is NaN — coding “MSP unknown” as “not a crash.” Now outputs NaN, and stays unknown.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B8A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MANDI-TO-MARKET  ·  TRACK 3 — AGRITECH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A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5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42976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E7C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676656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EA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market ledger, not another SaaS template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2344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B8A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Charcoal-brown base, harvest-gold accent, crop-teal secondary, rust-red for price alerts. Fraunces for headings, IBM Plex Sans for data — an editorial, register-book feel instead of a generic blue dashboard.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11091672" cy="1371600"/>
          </a:xfrm>
          <a:prstGeom prst="roundRect">
            <a:avLst>
              <a:gd name="adj" fmla="val 5333"/>
            </a:avLst>
          </a:prstGeom>
          <a:solidFill>
            <a:srgbClr val="241E1A"/>
          </a:solidFill>
          <a:ln w="12700">
            <a:solidFill>
              <a:srgbClr val="3A312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286000"/>
            <a:ext cx="23157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B8A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ARRIVALS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578608"/>
            <a:ext cx="23157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2EA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24,489 records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3321558" y="2240280"/>
            <a:ext cx="0" cy="1097280"/>
          </a:xfrm>
          <a:prstGeom prst="line">
            <a:avLst/>
          </a:prstGeom>
          <a:noFill/>
          <a:ln w="12700">
            <a:solidFill>
              <a:srgbClr val="3A312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50158" y="2286000"/>
            <a:ext cx="23157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B8A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MODAL PRICE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3550158" y="2578608"/>
            <a:ext cx="23157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2EA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vs. MSP tracked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094476" y="2240280"/>
            <a:ext cx="0" cy="1097280"/>
          </a:xfrm>
          <a:prstGeom prst="line">
            <a:avLst/>
          </a:prstGeom>
          <a:noFill/>
          <a:ln w="12700">
            <a:solidFill>
              <a:srgbClr val="3A312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23076" y="2286000"/>
            <a:ext cx="23157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B8A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PRICE-CRASH RATE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6323076" y="2578608"/>
            <a:ext cx="23157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15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below-MSP %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8867394" y="2240280"/>
            <a:ext cx="0" cy="1097280"/>
          </a:xfrm>
          <a:prstGeom prst="line">
            <a:avLst/>
          </a:prstGeom>
          <a:noFill/>
          <a:ln w="12700">
            <a:solidFill>
              <a:srgbClr val="3A312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095994" y="2286000"/>
            <a:ext cx="23157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B8A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TRANSIT TIME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9095994" y="2578608"/>
            <a:ext cx="23157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E7C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~13.5 hrs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548640" y="3849624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41248" y="372160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E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Tabs for Arrivals, Price vs MSP, Transit &amp; Delay, Weather correlation, and Advanced Insights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4416552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41248" y="4288536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E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 charts recolored to the same palette — transparent backgrounds so the card color shows through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4983480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41248" y="4855464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E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progress bar in rust for delay rate, teal/gold for on-time and positive movement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B8A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MANDI-TO-MARKET  ·  TRACK 3 — AGRITECH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A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5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42976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E7C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IT A QUESTION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676656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EA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graph-first agent, not a chatbot that guesses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E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question becomes a chart: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057400"/>
            <a:ext cx="384048" cy="384048"/>
          </a:xfrm>
          <a:prstGeom prst="ellipse">
            <a:avLst/>
          </a:prstGeom>
          <a:solidFill>
            <a:srgbClr val="3E7C6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15568" y="2039112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B8A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entities — crop, mandi, district, warehouse, date window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834640"/>
            <a:ext cx="384048" cy="384048"/>
          </a:xfrm>
          <a:prstGeom prst="ellipse">
            <a:avLst/>
          </a:prstGeom>
          <a:solidFill>
            <a:srgbClr val="3E7C6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834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115568" y="2816352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B8A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to one of 9 intent handlers (trend, ranking, comparison, correlation...)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611880"/>
            <a:ext cx="384048" cy="384048"/>
          </a:xfrm>
          <a:prstGeom prst="ellipse">
            <a:avLst/>
          </a:prstGeom>
          <a:solidFill>
            <a:srgbClr val="3E7C6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3611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115568" y="3593592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B8A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right chart — line for trends, bar for rankings, scatter for correlations, histogram for distributions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389120"/>
            <a:ext cx="384048" cy="384048"/>
          </a:xfrm>
          <a:prstGeom prst="ellipse">
            <a:avLst/>
          </a:prstGeom>
          <a:solidFill>
            <a:srgbClr val="3E7C6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389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115568" y="4370832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B8A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the chart plus a one-line plain-English summary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0" y="1554480"/>
            <a:ext cx="5257800" cy="4480560"/>
          </a:xfrm>
          <a:prstGeom prst="roundRect">
            <a:avLst>
              <a:gd name="adj" fmla="val 1633"/>
            </a:avLst>
          </a:prstGeom>
          <a:solidFill>
            <a:srgbClr val="241E1A"/>
          </a:solidFill>
          <a:ln w="12700">
            <a:solidFill>
              <a:srgbClr val="3A312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0" y="1554480"/>
            <a:ext cx="54864" cy="448056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720840" y="1783080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B8AA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“Show me wheat arrivals in the last month, compared to Ludhiana mandis”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720840" y="251460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720840" y="25146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ARRIVALS · LINE</a:t>
            </a:r>
            <a:endParaRPr lang="en-US" sz="850" dirty="0"/>
          </a:p>
        </p:txBody>
      </p:sp>
      <p:graphicFrame>
        <p:nvGraphicFramePr>
          <p:cNvPr id="24" name="Chart 0" descr=""/>
          <p:cNvGraphicFramePr/>
          <p:nvPr/>
        </p:nvGraphicFramePr>
        <p:xfrm>
          <a:off x="6720840" y="2971800"/>
          <a:ext cx="466344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Text 22"/>
          <p:cNvSpPr txBox="1"/>
          <p:nvPr/>
        </p:nvSpPr>
        <p:spPr>
          <a:xfrm>
            <a:off x="6720840" y="562356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B8A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filtered window has no rows, the agent widens it automatically and says so — never a silent empty chart.</a:t>
            </a:r>
            <a:endParaRPr lang="en-US" sz="1050" dirty="0"/>
          </a:p>
        </p:txBody>
      </p:sp>
      <p:sp>
        <p:nvSpPr>
          <p:cNvPr id="26" name="Text 23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B8A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MANDI-TO-MARKET  ·  TRACK 3 — AGRITECH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A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5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42976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E7C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DELIBERATE CALL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676656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EA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rule-based, not a paid LLM API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3611880" cy="2834640"/>
          </a:xfrm>
          <a:prstGeom prst="roundRect">
            <a:avLst>
              <a:gd name="adj" fmla="val 2581"/>
            </a:avLst>
          </a:prstGeom>
          <a:solidFill>
            <a:srgbClr val="241E1A"/>
          </a:solidFill>
          <a:ln w="12700">
            <a:solidFill>
              <a:srgbClr val="3A312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965960"/>
            <a:ext cx="457200" cy="457200"/>
          </a:xfrm>
          <a:prstGeom prst="ellipse">
            <a:avLst/>
          </a:prstGeom>
          <a:solidFill>
            <a:srgbClr val="3E7C6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56032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F2EA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rules said so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24612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B8A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datathon FAQ explicitly discourages spending on LLM API credits and points toward free or local options.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79976" y="1691640"/>
            <a:ext cx="3611880" cy="2834640"/>
          </a:xfrm>
          <a:prstGeom prst="roundRect">
            <a:avLst>
              <a:gd name="adj" fmla="val 2581"/>
            </a:avLst>
          </a:prstGeom>
          <a:solidFill>
            <a:srgbClr val="241E1A"/>
          </a:solidFill>
          <a:ln w="12700">
            <a:solidFill>
              <a:srgbClr val="3A312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54296" y="1965960"/>
            <a:ext cx="457200" cy="457200"/>
          </a:xfrm>
          <a:prstGeom prst="ellipse">
            <a:avLst/>
          </a:prstGeom>
          <a:solidFill>
            <a:srgbClr val="3E7C6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654296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654296" y="256032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F2EA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 network dependency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4654296" y="324612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B8A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cannot fail, rate-limit, or time out live in front of judges — the whole pipeline runs offline.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11312" y="1691640"/>
            <a:ext cx="3611880" cy="2834640"/>
          </a:xfrm>
          <a:prstGeom prst="roundRect">
            <a:avLst>
              <a:gd name="adj" fmla="val 2581"/>
            </a:avLst>
          </a:prstGeom>
          <a:solidFill>
            <a:srgbClr val="241E1A"/>
          </a:solidFill>
          <a:ln w="12700">
            <a:solidFill>
              <a:srgbClr val="3A312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85632" y="1965960"/>
            <a:ext cx="457200" cy="457200"/>
          </a:xfrm>
          <a:prstGeom prst="ellipse">
            <a:avLst/>
          </a:prstGeom>
          <a:solidFill>
            <a:srgbClr val="3E7C6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485632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485632" y="256032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F2EA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bounded domain doesn't need a general model</a:t>
            </a:r>
            <a:endParaRPr lang="en-US" sz="1550" dirty="0"/>
          </a:p>
        </p:txBody>
      </p:sp>
      <p:sp>
        <p:nvSpPr>
          <p:cNvPr id="20" name="Text 18"/>
          <p:cNvSpPr txBox="1"/>
          <p:nvPr/>
        </p:nvSpPr>
        <p:spPr>
          <a:xfrm>
            <a:off x="8485632" y="324612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B8A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crops, ~60 mandis, ~10 question types — a rule-based parser is more explainable and more reliable here than a general LLM would be.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4800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B8A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swap in a local LLM later (e.g. Llama 3 via Ollama), only extract_entities() changes — the rest of the query-to-chart pipeline stays the same.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B8A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MANDI-TO-MARKET  ·  TRACK 3 — AGRITECH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A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5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42976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E7C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INSIGHTS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676656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EA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Models that are actually fitted, not decorative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257800" cy="4206240"/>
          </a:xfrm>
          <a:prstGeom prst="roundRect">
            <a:avLst>
              <a:gd name="adj" fmla="val 1739"/>
            </a:avLst>
          </a:prstGeom>
          <a:solidFill>
            <a:srgbClr val="241E1A"/>
          </a:solidFill>
          <a:ln w="12700">
            <a:solidFill>
              <a:srgbClr val="3A312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920240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7-Day Forecast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377440"/>
            <a:ext cx="4709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2E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trend + day-of-week seasonality, fit fresh on whichever crop/mandi filter is selected. Below 10 days of history, it falls back to a flat recent-average forecast instead of fitting a model on a handful of points and returning nonsense.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2960" y="3977640"/>
            <a:ext cx="4709160" cy="0"/>
          </a:xfrm>
          <a:prstGeom prst="line">
            <a:avLst/>
          </a:prstGeom>
          <a:noFill/>
          <a:ln w="9525">
            <a:solidFill>
              <a:srgbClr val="3A312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4160520"/>
            <a:ext cx="4709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B8A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Forecasts arrivals or modal price. Values are clipped at zero — arrivals and prices can't go negative.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391656" y="1691640"/>
            <a:ext cx="5257800" cy="4206240"/>
          </a:xfrm>
          <a:prstGeom prst="roundRect">
            <a:avLst>
              <a:gd name="adj" fmla="val 1739"/>
            </a:avLst>
          </a:prstGeom>
          <a:solidFill>
            <a:srgbClr val="241E1A"/>
          </a:solidFill>
          <a:ln w="12700">
            <a:solidFill>
              <a:srgbClr val="3A312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665976" y="1920240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E7C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Mandi Clustering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665976" y="2377440"/>
            <a:ext cx="4709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2E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KMeans (k=3) groups every mandi by average arrival volume, arrival volatility, average price, and price volatility — then labels each cluster in plain language, not a bare cluster number.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665976" y="3703320"/>
            <a:ext cx="2926080" cy="384048"/>
          </a:xfrm>
          <a:prstGeom prst="roundRect">
            <a:avLst>
              <a:gd name="adj" fmla="val 19048"/>
            </a:avLst>
          </a:prstGeom>
          <a:solidFill>
            <a:srgbClr val="2E2621"/>
          </a:solidFill>
          <a:ln w="12700">
            <a:solidFill>
              <a:srgbClr val="3A312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65976" y="370332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E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Low-Volume · Stable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665976" y="4178808"/>
            <a:ext cx="2926080" cy="384048"/>
          </a:xfrm>
          <a:prstGeom prst="roundRect">
            <a:avLst>
              <a:gd name="adj" fmla="val 19048"/>
            </a:avLst>
          </a:prstGeom>
          <a:solidFill>
            <a:srgbClr val="2E2621"/>
          </a:solidFill>
          <a:ln w="12700">
            <a:solidFill>
              <a:srgbClr val="3A312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665976" y="417880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E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Mid-Volume · Volatile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665976" y="4654296"/>
            <a:ext cx="2926080" cy="384048"/>
          </a:xfrm>
          <a:prstGeom prst="roundRect">
            <a:avLst>
              <a:gd name="adj" fmla="val 19048"/>
            </a:avLst>
          </a:prstGeom>
          <a:solidFill>
            <a:srgbClr val="2E2621"/>
          </a:solidFill>
          <a:ln w="12700">
            <a:solidFill>
              <a:srgbClr val="3A312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665976" y="4654296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E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High-Volume · Stable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B8A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MANDI-TO-MARKET  ·  TRACK 3 — AGRITECH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A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5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42976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E7C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ANOTHER DELIBERATE CALL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676656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EA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scikit-learn, not Prophet or ARIMA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3611880" cy="3291840"/>
          </a:xfrm>
          <a:prstGeom prst="roundRect">
            <a:avLst>
              <a:gd name="adj" fmla="val 2222"/>
            </a:avLst>
          </a:prstGeom>
          <a:solidFill>
            <a:srgbClr val="241E1A"/>
          </a:solidFill>
          <a:ln w="12700">
            <a:solidFill>
              <a:srgbClr val="3A312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965960"/>
            <a:ext cx="384048" cy="384048"/>
          </a:xfrm>
          <a:prstGeom prst="ellipse">
            <a:avLst/>
          </a:prstGeom>
          <a:solidFill>
            <a:srgbClr val="C1502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51460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F2EA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Prophet needs a C++ toolchain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29184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B8A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cmdstanpy install failures are a real risk to hit hours before a deadline — especially on a Windows laptop.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79976" y="1691640"/>
            <a:ext cx="3611880" cy="3291840"/>
          </a:xfrm>
          <a:prstGeom prst="roundRect">
            <a:avLst>
              <a:gd name="adj" fmla="val 2222"/>
            </a:avLst>
          </a:prstGeom>
          <a:solidFill>
            <a:srgbClr val="241E1A"/>
          </a:solidFill>
          <a:ln w="12700">
            <a:solidFill>
              <a:srgbClr val="3A312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54296" y="1965960"/>
            <a:ext cx="384048" cy="384048"/>
          </a:xfrm>
          <a:prstGeom prst="ellipse">
            <a:avLst/>
          </a:prstGeom>
          <a:solidFill>
            <a:srgbClr val="C1502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654296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654296" y="251460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F2EA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ARIMA can fail to converge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4654296" y="329184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B8A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per-mandi-per-crop series here have under 20 points; a model that silently misbehaves live is worse than a simpler, stable one.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11312" y="1691640"/>
            <a:ext cx="3611880" cy="3291840"/>
          </a:xfrm>
          <a:prstGeom prst="roundRect">
            <a:avLst>
              <a:gd name="adj" fmla="val 2222"/>
            </a:avLst>
          </a:prstGeom>
          <a:solidFill>
            <a:srgbClr val="241E1A"/>
          </a:solidFill>
          <a:ln w="12700">
            <a:solidFill>
              <a:srgbClr val="3A312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85632" y="1965960"/>
            <a:ext cx="384048" cy="384048"/>
          </a:xfrm>
          <a:prstGeom prst="ellipse">
            <a:avLst/>
          </a:prstGeom>
          <a:solidFill>
            <a:srgbClr val="C1502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485632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485632" y="251460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F2EA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scikit-learn was already required</a:t>
            </a:r>
            <a:endParaRPr lang="en-US" sz="1550" dirty="0"/>
          </a:p>
        </p:txBody>
      </p:sp>
      <p:sp>
        <p:nvSpPr>
          <p:cNvPr id="20" name="Text 18"/>
          <p:cNvSpPr txBox="1"/>
          <p:nvPr/>
        </p:nvSpPr>
        <p:spPr>
          <a:xfrm>
            <a:off x="8485632" y="329184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B8A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used for clustering either way — using it for forecasting too adds zero new install risk.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1663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B8A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the same forecast and clustering behavior on every machine, no build tools, no convergence warnings in front of judges.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B8A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MANDI-TO-MARKET  ·  TRACK 3 — AGRITECH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A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5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42976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E7C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BOARD ACTUALLY SEES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676656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EA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numbers that drive decisions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241E1A"/>
          </a:solidFill>
          <a:ln w="12700">
            <a:solidFill>
              <a:srgbClr val="3A312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4672" y="1965960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04672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2487168"/>
            <a:ext cx="3054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F2EA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 crop arrivals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804672" y="2944368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8A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Quintals, by mandi, crop and date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88536" y="173736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241E1A"/>
          </a:solidFill>
          <a:ln w="12700">
            <a:solidFill>
              <a:srgbClr val="3A312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44568" y="1965960"/>
            <a:ext cx="384048" cy="384048"/>
          </a:xfrm>
          <a:prstGeom prst="ellipse">
            <a:avLst/>
          </a:prstGeom>
          <a:solidFill>
            <a:srgbClr val="3E7C6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44568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544568" y="2487168"/>
            <a:ext cx="3054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F2EA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 vs MSP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4544568" y="2944368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8A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modal price and the price-crash rate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28432" y="173736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241E1A"/>
          </a:solidFill>
          <a:ln w="12700">
            <a:solidFill>
              <a:srgbClr val="3A312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84464" y="1965960"/>
            <a:ext cx="384048" cy="384048"/>
          </a:xfrm>
          <a:prstGeom prst="ellipse">
            <a:avLst/>
          </a:prstGeom>
          <a:solidFill>
            <a:srgbClr val="C1502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84464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284464" y="2487168"/>
            <a:ext cx="3054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F2EA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mandis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8284464" y="2944368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8A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by arrival volume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365760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241E1A"/>
          </a:solidFill>
          <a:ln w="12700">
            <a:solidFill>
              <a:srgbClr val="3A312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4672" y="3886200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04672" y="3886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804672" y="4407408"/>
            <a:ext cx="3054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F2EA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Transit performance</a:t>
            </a:r>
            <a:endParaRPr lang="en-US" sz="1450" dirty="0"/>
          </a:p>
        </p:txBody>
      </p:sp>
      <p:sp>
        <p:nvSpPr>
          <p:cNvPr id="25" name="Text 23"/>
          <p:cNvSpPr txBox="1"/>
          <p:nvPr/>
        </p:nvSpPr>
        <p:spPr>
          <a:xfrm>
            <a:off x="804672" y="4864608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8A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time by warehouse/mandi, and delay rate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288536" y="365760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241E1A"/>
          </a:solidFill>
          <a:ln w="12700">
            <a:solidFill>
              <a:srgbClr val="3A312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44568" y="3886200"/>
            <a:ext cx="384048" cy="384048"/>
          </a:xfrm>
          <a:prstGeom prst="ellipse">
            <a:avLst/>
          </a:prstGeom>
          <a:solidFill>
            <a:srgbClr val="3E7C6D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4544568" y="3886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4544568" y="4407408"/>
            <a:ext cx="3054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F2EA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Crop-wise distribution</a:t>
            </a:r>
            <a:endParaRPr lang="en-US" sz="1450" dirty="0"/>
          </a:p>
        </p:txBody>
      </p:sp>
      <p:sp>
        <p:nvSpPr>
          <p:cNvPr id="30" name="Text 28"/>
          <p:cNvSpPr txBox="1"/>
          <p:nvPr/>
        </p:nvSpPr>
        <p:spPr>
          <a:xfrm>
            <a:off x="4544568" y="4864608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8A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arrivals split across the six crops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028432" y="365760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241E1A"/>
          </a:solidFill>
          <a:ln w="12700">
            <a:solidFill>
              <a:srgbClr val="3A312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284464" y="3886200"/>
            <a:ext cx="384048" cy="384048"/>
          </a:xfrm>
          <a:prstGeom prst="ellipse">
            <a:avLst/>
          </a:prstGeom>
          <a:solidFill>
            <a:srgbClr val="C1502E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284464" y="3886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8284464" y="4407408"/>
            <a:ext cx="3054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F2EA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Rainfall–arrival correlation</a:t>
            </a:r>
            <a:endParaRPr lang="en-US" sz="1450" dirty="0"/>
          </a:p>
        </p:txBody>
      </p:sp>
      <p:sp>
        <p:nvSpPr>
          <p:cNvPr id="35" name="Text 33"/>
          <p:cNvSpPr txBox="1"/>
          <p:nvPr/>
        </p:nvSpPr>
        <p:spPr>
          <a:xfrm>
            <a:off x="8284464" y="4864608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8A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weather move supply?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B8A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MANDI-TO-MARKET  ·  TRACK 3 — AGRITECH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A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5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42976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E7C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IT'S WIRED TOGETHER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676656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EA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pipeline, three consumers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2286000" cy="1188720"/>
          </a:xfrm>
          <a:prstGeom prst="roundRect">
            <a:avLst>
              <a:gd name="adj" fmla="val 6154"/>
            </a:avLst>
          </a:prstGeom>
          <a:solidFill>
            <a:srgbClr val="2E2621"/>
          </a:solidFill>
          <a:ln w="12700">
            <a:solidFill>
              <a:srgbClr val="B8AA9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9202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8A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data_raw/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267712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B8A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messy source files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834640" y="2423160"/>
            <a:ext cx="594360" cy="0"/>
          </a:xfrm>
          <a:prstGeom prst="line">
            <a:avLst/>
          </a:prstGeom>
          <a:noFill/>
          <a:ln w="19050">
            <a:solidFill>
              <a:srgbClr val="3A312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429000" y="1828800"/>
            <a:ext cx="2286000" cy="1188720"/>
          </a:xfrm>
          <a:prstGeom prst="roundRect">
            <a:avLst>
              <a:gd name="adj" fmla="val 6154"/>
            </a:avLst>
          </a:prstGeom>
          <a:solidFill>
            <a:srgbClr val="2E2621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66160" y="19202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clean_data.py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2267712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B8A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standardize, join, validate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715000" y="2423160"/>
            <a:ext cx="594360" cy="0"/>
          </a:xfrm>
          <a:prstGeom prst="line">
            <a:avLst/>
          </a:prstGeom>
          <a:noFill/>
          <a:ln w="19050">
            <a:solidFill>
              <a:srgbClr val="3A312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309360" y="1828800"/>
            <a:ext cx="2286000" cy="1188720"/>
          </a:xfrm>
          <a:prstGeom prst="roundRect">
            <a:avLst>
              <a:gd name="adj" fmla="val 6154"/>
            </a:avLst>
          </a:prstGeom>
          <a:solidFill>
            <a:srgbClr val="2E2621"/>
          </a:solidFill>
          <a:ln w="12700">
            <a:solidFill>
              <a:srgbClr val="B8AA9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46520" y="19202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8A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data_clean/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446520" y="2267712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B8A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CSVs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452360" y="3017520"/>
            <a:ext cx="0" cy="640080"/>
          </a:xfrm>
          <a:prstGeom prst="line">
            <a:avLst/>
          </a:prstGeom>
          <a:noFill/>
          <a:ln w="19050">
            <a:solidFill>
              <a:srgbClr val="3A3128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48640" y="3657600"/>
            <a:ext cx="2286000" cy="1417320"/>
          </a:xfrm>
          <a:prstGeom prst="roundRect">
            <a:avLst>
              <a:gd name="adj" fmla="val 5161"/>
            </a:avLst>
          </a:prstGeom>
          <a:solidFill>
            <a:srgbClr val="2E2621"/>
          </a:solidFill>
          <a:ln w="12700">
            <a:solidFill>
              <a:srgbClr val="C1502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5800" y="3749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agent.py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4096512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B8A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NL → chart engine, 9 intents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429000" y="3657600"/>
            <a:ext cx="2286000" cy="1417320"/>
          </a:xfrm>
          <a:prstGeom prst="roundRect">
            <a:avLst>
              <a:gd name="adj" fmla="val 5161"/>
            </a:avLst>
          </a:prstGeom>
          <a:solidFill>
            <a:srgbClr val="2E2621"/>
          </a:solidFill>
          <a:ln w="12700">
            <a:solidFill>
              <a:srgbClr val="3E7C6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566160" y="3749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E7C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ml_insights.py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3566160" y="4096512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B8A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LinearRegression forecast + KMeans clustering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309360" y="3657600"/>
            <a:ext cx="2286000" cy="1417320"/>
          </a:xfrm>
          <a:prstGeom prst="roundRect">
            <a:avLst>
              <a:gd name="adj" fmla="val 5161"/>
            </a:avLst>
          </a:prstGeom>
          <a:solidFill>
            <a:srgbClr val="2E2621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46520" y="3749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app.py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6446520" y="4096512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B8A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dashboard + chat UI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53492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8A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stack: Python · pandas / numpy · scikit-learn · Streamlit · Plotly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B8A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MANDI-TO-MARKET  ·  TRACK 3 — AGRITECH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A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5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4114800"/>
            <a:ext cx="5943600" cy="5943600"/>
          </a:xfrm>
          <a:prstGeom prst="ellipse">
            <a:avLst/>
          </a:prstGeom>
          <a:solidFill>
            <a:srgbClr val="241E1A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5029200"/>
            <a:ext cx="4114800" cy="4114800"/>
          </a:xfrm>
          <a:prstGeom prst="ellipse">
            <a:avLst/>
          </a:prstGeom>
          <a:solidFill>
            <a:srgbClr val="2E262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2377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E7C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MANDI-TO-MARKET SUPPLY CHAIN OPTIMIZER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889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EA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to survive the hard questions —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4290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because we asked them first.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1206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A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B8A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MANDI-TO-MARKET  ·  TRACK 3 — AGRITECH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A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2026-09-16T18:32:56Z</dcterms:created>
  <dcterms:modified xsi:type="dcterms:W3CDTF">2026-09-16T18:32:56Z</dcterms:modified>
</cp:coreProperties>
</file>